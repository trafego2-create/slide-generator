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40"/>
  </p:notesMasterIdLst>
  <p:sldIdLst>
    <p:sldId id="268" r:id="rId2"/>
    <p:sldId id="317" r:id="rId3"/>
    <p:sldId id="728" r:id="rId4"/>
  </p:sldIdLst>
  <p:sldSz cx="12192000" cy="6858000"/>
  <p:notesSz cx="6858000" cy="9144000"/>
  <p:custDataLst>
    <p:tags r:id="rId41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25" userDrawn="1">
          <p15:clr>
            <a:srgbClr val="A4A3A4"/>
          </p15:clr>
        </p15:guide>
        <p15:guide id="2" orient="horz" pos="3952" userDrawn="1">
          <p15:clr>
            <a:srgbClr val="A4A3A4"/>
          </p15:clr>
        </p15:guide>
        <p15:guide id="3" orient="horz" pos="527" userDrawn="1">
          <p15:clr>
            <a:srgbClr val="A4A3A4"/>
          </p15:clr>
        </p15:guide>
        <p15:guide id="4" pos="7355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6" orient="horz" pos="1593" userDrawn="1">
          <p15:clr>
            <a:srgbClr val="A4A3A4"/>
          </p15:clr>
        </p15:guide>
        <p15:guide id="7" pos="3749" userDrawn="1">
          <p15:clr>
            <a:srgbClr val="A4A3A4"/>
          </p15:clr>
        </p15:guide>
        <p15:guide id="8" pos="3636" userDrawn="1">
          <p15:clr>
            <a:srgbClr val="A4A3A4"/>
          </p15:clr>
        </p15:guide>
        <p15:guide id="9" orient="horz" pos="45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istrativo - Aprovasim" initials="AA" lastIdx="1" clrIdx="0">
    <p:extLst>
      <p:ext uri="{19B8F6BF-5375-455C-9EA6-DF929625EA0E}">
        <p15:presenceInfo xmlns:p15="http://schemas.microsoft.com/office/powerpoint/2012/main" userId="456e7a917211350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D"/>
    <a:srgbClr val="FFFFFB"/>
    <a:srgbClr val="FCFBF7"/>
    <a:srgbClr val="FFFEF8"/>
    <a:srgbClr val="E7432D"/>
    <a:srgbClr val="E23C00"/>
    <a:srgbClr val="E25100"/>
    <a:srgbClr val="E23600"/>
    <a:srgbClr val="FF3D01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C558EA-3B58-450A-9CB5-4757D05055A0}" v="1" dt="2026-07-13T12:00:42.0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88" autoAdjust="0"/>
    <p:restoredTop sz="93577" autoAdjust="0"/>
  </p:normalViewPr>
  <p:slideViewPr>
    <p:cSldViewPr snapToGrid="0">
      <p:cViewPr varScale="1">
        <p:scale>
          <a:sx n="100" d="100"/>
          <a:sy n="100" d="100"/>
        </p:scale>
        <p:origin x="2514" y="78"/>
      </p:cViewPr>
      <p:guideLst>
        <p:guide pos="325"/>
        <p:guide orient="horz" pos="3952"/>
        <p:guide orient="horz" pos="527"/>
        <p:guide pos="7355"/>
        <p:guide orient="horz" pos="935"/>
        <p:guide orient="horz" pos="1593"/>
        <p:guide pos="3749"/>
        <p:guide pos="3636"/>
        <p:guide orient="horz" pos="45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40" Type="http://schemas.openxmlformats.org/officeDocument/2006/relationships/notesMaster" Target="notesMasters/notesMaster1.xml"/><Relationship Id="rId41" Type="http://schemas.openxmlformats.org/officeDocument/2006/relationships/tags" Target="tags/tag1.xml"/><Relationship Id="rId42" Type="http://schemas.openxmlformats.org/officeDocument/2006/relationships/commentAuthors" Target="commentAuthors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7" Type="http://schemas.microsoft.com/office/2016/11/relationships/changesInfo" Target="changesInfos/changesInfo1.xml"/><Relationship Id="rId4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agramador@aprovasim.com" userId="08c27f4fd777aeb1" providerId="LiveId" clId="{6DA82D89-F719-4B18-ABAA-0D43E56AF532}"/>
    <pc:docChg chg="undo custSel addSld delSld modSld sldOrd">
      <pc:chgData name="diagramador@aprovasim.com" userId="08c27f4fd777aeb1" providerId="LiveId" clId="{6DA82D89-F719-4B18-ABAA-0D43E56AF532}" dt="2026-07-13T12:00:42.072" v="4953" actId="108"/>
      <pc:docMkLst>
        <pc:docMk/>
      </pc:docMkLst>
      <pc:sldChg chg="modSp">
        <pc:chgData name="diagramador@aprovasim.com" userId="08c27f4fd777aeb1" providerId="LiveId" clId="{6DA82D89-F719-4B18-ABAA-0D43E56AF532}" dt="2026-07-13T12:00:42.072" v="4953" actId="108"/>
        <pc:sldMkLst>
          <pc:docMk/>
          <pc:sldMk cId="2235558883" sldId="728"/>
        </pc:sldMkLst>
        <pc:picChg chg="mod">
          <ac:chgData name="diagramador@aprovasim.com" userId="08c27f4fd777aeb1" providerId="LiveId" clId="{6DA82D89-F719-4B18-ABAA-0D43E56AF532}" dt="2026-07-13T12:00:42.072" v="4953" actId="108"/>
          <ac:picMkLst>
            <pc:docMk/>
            <pc:sldMk cId="2235558883" sldId="728"/>
            <ac:picMk id="2060" creationId="{AEDA09C3-22F2-5CCA-7B71-BCF3F55CC683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36D114-1937-4C55-BF86-F4C020AE20B6}" type="datetimeFigureOut">
              <a:rPr lang="pt-BR" smtClean="0"/>
              <a:t>13/07/2026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F66082-62EF-4EF2-B22A-64B063CCC62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842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66082-62EF-4EF2-B22A-64B063CCC62A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7170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8C7A1-612C-F87F-984A-715A43AEE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926DB7F-C176-419E-1374-8A3C5C627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7F191D5-2EA9-1684-DD2B-734F43C664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8889CD0-E13C-7F96-2834-B0FB2F6E8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0F66082-62EF-4EF2-B22A-64B063CCC62A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452996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13/07/2026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5193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13/07/2026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4729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13/07/2026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6352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13/07/2026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9417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13/07/2026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8978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13/07/2026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13820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13/07/2026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2538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13/07/2026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0069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13/07/2026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85565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13/07/2026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94808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13/07/2026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48706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207116-AAC5-4A69-B50F-7FADCFFD150F}" type="datetimeFigureOut">
              <a:rPr lang="pt-BR" smtClean="0"/>
              <a:t>13/07/2026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2269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Relationship Id="rId5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C18723-6178-21FC-36D1-60762899D4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0CF3587-5D7A-DFC4-68EB-1C4748323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67369" y="4154521"/>
            <a:ext cx="4057262" cy="660076"/>
          </a:xfrm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  <a:latin typeface="Inter ExtraLight" panose="02000503000000020004" pitchFamily="2" charset="0"/>
                <a:ea typeface="Inter ExtraLight" panose="02000503000000020004" pitchFamily="2" charset="0"/>
              </a:rPr>
              <a:t>Nome do professor aqui</a:t>
            </a:r>
          </a:p>
        </p:txBody>
      </p:sp>
    </p:spTree>
    <p:extLst>
      <p:ext uri="{BB962C8B-B14F-4D97-AF65-F5344CB8AC3E}">
        <p14:creationId xmlns:p14="http://schemas.microsoft.com/office/powerpoint/2010/main" val="3048187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2AD2F24B-E9D7-CBE7-680B-3EE782AAC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72240" y="2766218"/>
            <a:ext cx="9247517" cy="1325563"/>
          </a:xfrm>
        </p:spPr>
        <p:txBody>
          <a:bodyPr>
            <a:normAutofit fontScale="90000"/>
          </a:bodyPr>
          <a:lstStyle/>
          <a:p>
            <a:pPr algn="ctr">
              <a:lnSpc>
                <a:spcPts val="6200"/>
              </a:lnSpc>
            </a:pPr>
            <a:r>
              <a:rPr lang="pt-BR" sz="6000" b="1" dirty="0">
                <a:solidFill>
                  <a:srgbClr val="E7432D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ATUALIDADES</a:t>
            </a:r>
            <a:r>
              <a:rPr lang="pt-BR" sz="5600" b="1" dirty="0">
                <a:solidFill>
                  <a:schemeClr val="bg1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 </a:t>
            </a:r>
            <a:br>
              <a:rPr lang="pt-BR" sz="5600" b="1" dirty="0">
                <a:solidFill>
                  <a:schemeClr val="bg1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</a:br>
            <a:r>
              <a:rPr lang="pt-BR" b="1" dirty="0">
                <a:solidFill>
                  <a:srgbClr val="E7432D"/>
                </a:solidFill>
                <a:latin typeface="Inter Black" panose="02000A03000000020004" pitchFamily="50" charset="0"/>
                <a:ea typeface="Inter Black" panose="02000A03000000020004" pitchFamily="50" charset="0"/>
                <a:cs typeface="Inter Black" panose="02000A03000000020004" pitchFamily="50" charset="0"/>
              </a:rPr>
              <a:t>MAIO 2026</a:t>
            </a:r>
            <a:endParaRPr lang="pt-BR" sz="5600" b="1" dirty="0">
              <a:solidFill>
                <a:srgbClr val="E7432D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ítulo 5">
            <a:extLst>
              <a:ext uri="{FF2B5EF4-FFF2-40B4-BE49-F238E27FC236}">
                <a16:creationId xmlns:a16="http://schemas.microsoft.com/office/drawing/2014/main" id="{172D9D75-C376-F8A2-AE63-02891CB6C614}"/>
              </a:ext>
            </a:extLst>
          </p:cNvPr>
          <p:cNvSpPr txBox="1">
            <a:spLocks/>
          </p:cNvSpPr>
          <p:nvPr/>
        </p:nvSpPr>
        <p:spPr>
          <a:xfrm>
            <a:off x="3046561" y="4781282"/>
            <a:ext cx="6098876" cy="38602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400" dirty="0">
                <a:solidFill>
                  <a:schemeClr val="bg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Prof. Max Engler</a:t>
            </a:r>
          </a:p>
        </p:txBody>
      </p:sp>
    </p:spTree>
    <p:extLst>
      <p:ext uri="{BB962C8B-B14F-4D97-AF65-F5344CB8AC3E}">
        <p14:creationId xmlns:p14="http://schemas.microsoft.com/office/powerpoint/2010/main" val="38952213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F479ED-2499-2E02-D879-156E3F7FC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>
            <a:extLst>
              <a:ext uri="{FF2B5EF4-FFF2-40B4-BE49-F238E27FC236}">
                <a16:creationId xmlns:a16="http://schemas.microsoft.com/office/drawing/2014/main" id="{CAE89E0D-56A1-DE3E-87B6-12BD43B89CC5}"/>
              </a:ext>
            </a:extLst>
          </p:cNvPr>
          <p:cNvSpPr/>
          <p:nvPr/>
        </p:nvSpPr>
        <p:spPr>
          <a:xfrm>
            <a:off x="515938" y="2539782"/>
            <a:ext cx="5268636" cy="37340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indent="360000" algn="just">
              <a:lnSpc>
                <a:spcPct val="108000"/>
              </a:lnSpc>
              <a:spcAft>
                <a:spcPts val="600"/>
              </a:spcAft>
            </a:pPr>
            <a:r>
              <a:rPr lang="pt-BR" dirty="0">
                <a:solidFill>
                  <a:schemeClr val="bg2">
                    <a:lumMod val="7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cs typeface="Microsoft Sans Serif" panose="020B0604020202020204" pitchFamily="34" charset="0"/>
              </a:rPr>
              <a:t>Após mais de 20 anos de negociações, a parte comercial do acordo entre Mercosul e União Europeia entrou em vigor em maio de 2026. O tratado amplia o acesso de produtos brasileiros ao mercado europeu, mas também aumenta a concorrência para a indústria nacional. Além do impacto econômico, o acordo fortalece a posição estratégica do Mercosul em um cenário de disputa entre Estados Unidos e China.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6A2078D-83B0-A6D1-01AF-E1F984FDA87E}"/>
              </a:ext>
            </a:extLst>
          </p:cNvPr>
          <p:cNvSpPr/>
          <p:nvPr/>
        </p:nvSpPr>
        <p:spPr>
          <a:xfrm>
            <a:off x="515938" y="1491445"/>
            <a:ext cx="5268636" cy="73681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t-BR" sz="3200" b="1" dirty="0">
                <a:solidFill>
                  <a:schemeClr val="bg2">
                    <a:lumMod val="75000"/>
                  </a:schemeClr>
                </a:solidFill>
                <a:latin typeface="Aptos ExtraBold" panose="020B0004020202020204" pitchFamily="34" charset="0"/>
                <a:ea typeface="Verdana" panose="020B0604030504040204" pitchFamily="34" charset="0"/>
              </a:rPr>
              <a:t>Acordo Mercosul–União Europeia</a:t>
            </a:r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A77F85BD-6AA1-5E41-EBFC-F84581D32800}"/>
              </a:ext>
            </a:extLst>
          </p:cNvPr>
          <p:cNvSpPr/>
          <p:nvPr/>
        </p:nvSpPr>
        <p:spPr>
          <a:xfrm>
            <a:off x="515938" y="836613"/>
            <a:ext cx="1293812" cy="343307"/>
          </a:xfrm>
          <a:prstGeom prst="roundRect">
            <a:avLst>
              <a:gd name="adj" fmla="val 24475"/>
            </a:avLst>
          </a:prstGeom>
          <a:solidFill>
            <a:srgbClr val="E7432D"/>
          </a:solidFill>
          <a:ln>
            <a:noFill/>
          </a:ln>
          <a:effectLst>
            <a:outerShdw blurRad="50800" dist="38100" dir="2700000" algn="t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600" b="1" dirty="0">
                <a:solidFill>
                  <a:schemeClr val="tx1"/>
                </a:solidFill>
                <a:sym typeface="Symbol" panose="05050102010706020507" pitchFamily="18" charset="2"/>
              </a:rPr>
              <a:t>  </a:t>
            </a:r>
            <a:r>
              <a:rPr lang="pt-BR" sz="1600" b="1" dirty="0">
                <a:solidFill>
                  <a:schemeClr val="tx1"/>
                </a:solidFill>
              </a:rPr>
              <a:t>BRASIL</a:t>
            </a:r>
          </a:p>
        </p:txBody>
      </p:sp>
      <p:pic>
        <p:nvPicPr>
          <p:cNvPr id="2060" name="Picture 12" descr="CEBRI-Revista | Brasil e União Europeia: situação atual das relações e  perspectivas">
            <a:extLst>
              <a:ext uri="{FF2B5EF4-FFF2-40B4-BE49-F238E27FC236}">
                <a16:creationId xmlns:a16="http://schemas.microsoft.com/office/drawing/2014/main" id="{AEDA09C3-22F2-5CCA-7B71-BCF3F55CC6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15" r="4016"/>
          <a:stretch>
            <a:fillRect/>
          </a:stretch>
        </p:blipFill>
        <p:spPr bwMode="auto">
          <a:xfrm>
            <a:off x="5784574" y="728663"/>
            <a:ext cx="6407426" cy="6129337"/>
          </a:xfrm>
          <a:prstGeom prst="rect">
            <a:avLst/>
          </a:prstGeom>
          <a:effectLst>
            <a:innerShdw blurRad="850900" dist="762000" dir="10800000">
              <a:srgbClr val="FFFFFD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5588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-2108297336"/>
</p:tagLst>
</file>

<file path=ppt/theme/theme1.xml><?xml version="1.0" encoding="utf-8"?>
<a:theme xmlns:a="http://schemas.openxmlformats.org/drawingml/2006/main" name="Office Theme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 2013 - 2022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15109</TotalTime>
  <Words>2823</Words>
  <Application>Microsoft Office PowerPoint</Application>
  <PresentationFormat>Widescreen</PresentationFormat>
  <Paragraphs>150</Paragraphs>
  <Slides>38</Slides>
  <Notes>37</Notes>
  <HiddenSlides>0</HiddenSlides>
  <MMClips>0</MMClips>
  <ScaleCrop>false</ScaleCrop>
  <HeadingPairs>
    <vt:vector size="6" baseType="variant">
      <vt:variant>
        <vt:lpstr>Fontes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38</vt:i4>
      </vt:variant>
    </vt:vector>
  </HeadingPairs>
  <TitlesOfParts>
    <vt:vector size="48" baseType="lpstr">
      <vt:lpstr>Aptos</vt:lpstr>
      <vt:lpstr>Aptos Display</vt:lpstr>
      <vt:lpstr>Aptos ExtraBold</vt:lpstr>
      <vt:lpstr>Arial</vt:lpstr>
      <vt:lpstr>Inter</vt:lpstr>
      <vt:lpstr>Inter Black</vt:lpstr>
      <vt:lpstr>Inter ExtraLight</vt:lpstr>
      <vt:lpstr>Symbol</vt:lpstr>
      <vt:lpstr>Verdana</vt:lpstr>
      <vt:lpstr>Office Theme</vt:lpstr>
      <vt:lpstr> </vt:lpstr>
      <vt:lpstr>ATUALIDADES  MAIO 2026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</dc:title>
  <dc:creator>Administrativo - Aprovasim</dc:creator>
  <cp:lastModifiedBy>diagramador@aprovasim.com</cp:lastModifiedBy>
  <cp:revision>342</cp:revision>
  <dcterms:created xsi:type="dcterms:W3CDTF">2022-10-04T12:44:15Z</dcterms:created>
  <dcterms:modified xsi:type="dcterms:W3CDTF">2026-07-13T12:00:53Z</dcterms:modified>
</cp:coreProperties>
</file>
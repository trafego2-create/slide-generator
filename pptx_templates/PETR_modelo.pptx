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68" r:id="rId2"/>
    <p:sldId id="270" r:id="rId3"/>
    <p:sldId id="319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82" userDrawn="1">
          <p15:clr>
            <a:srgbClr val="A4A3A4"/>
          </p15:clr>
        </p15:guide>
        <p15:guide id="2" orient="horz" pos="3884" userDrawn="1">
          <p15:clr>
            <a:srgbClr val="A4A3A4"/>
          </p15:clr>
        </p15:guide>
        <p15:guide id="3" pos="393" userDrawn="1">
          <p15:clr>
            <a:srgbClr val="A4A3A4"/>
          </p15:clr>
        </p15:guide>
        <p15:guide id="4" pos="7287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istrativo - Aprovasim" initials="AA" lastIdx="1" clrIdx="0">
    <p:extLst>
      <p:ext uri="{19B8F6BF-5375-455C-9EA6-DF929625EA0E}">
        <p15:presenceInfo xmlns:p15="http://schemas.microsoft.com/office/powerpoint/2012/main" userId="456e7a9172113501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C4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249" autoAdjust="0"/>
    <p:restoredTop sz="94384" autoAdjust="0"/>
  </p:normalViewPr>
  <p:slideViewPr>
    <p:cSldViewPr snapToGrid="0">
      <p:cViewPr varScale="1">
        <p:scale>
          <a:sx n="97" d="100"/>
          <a:sy n="97" d="100"/>
        </p:scale>
        <p:origin x="2568" y="78"/>
      </p:cViewPr>
      <p:guideLst>
        <p:guide orient="horz" pos="482"/>
        <p:guide orient="horz" pos="3884"/>
        <p:guide pos="393"/>
        <p:guide pos="728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6" Type="http://schemas.openxmlformats.org/officeDocument/2006/relationships/slide" Target="slides/slide5.xml"/><Relationship Id="rId17" Type="http://schemas.openxmlformats.org/officeDocument/2006/relationships/commentAuthors" Target="commentAuthors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5316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486619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5861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774650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45249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90307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1336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09149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3226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9479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207116-AAC5-4A69-B50F-7FADCFFD150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144767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207116-AAC5-4A69-B50F-7FADCFFD150F}" type="datetimeFigureOut">
              <a:rPr lang="pt-BR" smtClean="0"/>
              <a:t>17/04/2026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3F6E9F-887C-44CC-AD15-3A89ED68BFE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56473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C18723-6178-21FC-36D1-60762899D43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0CF3587-5D7A-DFC4-68EB-1C47483231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067369" y="4154521"/>
            <a:ext cx="4057262" cy="660076"/>
          </a:xfrm>
        </p:spPr>
        <p:txBody>
          <a:bodyPr/>
          <a:lstStyle/>
          <a:p>
            <a:r>
              <a:rPr lang="pt-BR" dirty="0">
                <a:solidFill>
                  <a:schemeClr val="bg1"/>
                </a:solidFill>
                <a:latin typeface="Inter ExtraLight" panose="02000503000000020004" pitchFamily="2" charset="0"/>
                <a:ea typeface="Inter ExtraLight" panose="02000503000000020004" pitchFamily="2" charset="0"/>
              </a:rPr>
              <a:t>Nome do professor aqui</a:t>
            </a:r>
          </a:p>
        </p:txBody>
      </p:sp>
    </p:spTree>
    <p:extLst>
      <p:ext uri="{BB962C8B-B14F-4D97-AF65-F5344CB8AC3E}">
        <p14:creationId xmlns:p14="http://schemas.microsoft.com/office/powerpoint/2010/main" val="3048187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82247DD7-7903-AB37-B88D-C56EA81C66AA}"/>
              </a:ext>
            </a:extLst>
          </p:cNvPr>
          <p:cNvSpPr txBox="1"/>
          <p:nvPr/>
        </p:nvSpPr>
        <p:spPr>
          <a:xfrm>
            <a:off x="1050253" y="1493491"/>
            <a:ext cx="10091492" cy="8911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1" hangingPunct="1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pt-BR" altLang="pt-BR" sz="4000" b="1" dirty="0">
                <a:solidFill>
                  <a:srgbClr val="FF3203"/>
                </a:solidFill>
                <a:latin typeface="Verdana" panose="020B0604030504040204" pitchFamily="34" charset="0"/>
                <a:ea typeface="Verdana" panose="020B0604030504040204" pitchFamily="34" charset="0"/>
                <a:cs typeface="Inter SemiBold" panose="02000503000000020004" pitchFamily="2" charset="0"/>
              </a:rPr>
              <a:t>GESTÃO DE RISCOS E PREVENÇÃO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3C1582F0-4C05-D42A-282C-75EED337BF5E}"/>
              </a:ext>
            </a:extLst>
          </p:cNvPr>
          <p:cNvSpPr txBox="1"/>
          <p:nvPr/>
        </p:nvSpPr>
        <p:spPr>
          <a:xfrm>
            <a:off x="3314627" y="2567226"/>
            <a:ext cx="556434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altLang="pt-BR" sz="3200" dirty="0">
                <a:solidFill>
                  <a:schemeClr val="bg1">
                    <a:lumMod val="50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Inter ExtraLight" panose="02000503000000020004" pitchFamily="2" charset="0"/>
              </a:rPr>
              <a:t>Me. Pablo Fernando Lopes</a:t>
            </a:r>
          </a:p>
        </p:txBody>
      </p:sp>
      <p:pic>
        <p:nvPicPr>
          <p:cNvPr id="2" name="Picture 4" descr="O que é gestão de risco? - FIA">
            <a:extLst>
              <a:ext uri="{FF2B5EF4-FFF2-40B4-BE49-F238E27FC236}">
                <a16:creationId xmlns:a16="http://schemas.microsoft.com/office/drawing/2014/main" id="{F06A6686-61A9-D371-2888-70BF6D2C8B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5885" y="3517189"/>
            <a:ext cx="3980229" cy="2648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291899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5FDA0B-767E-8756-BC33-1DB562376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3">
            <a:extLst>
              <a:ext uri="{FF2B5EF4-FFF2-40B4-BE49-F238E27FC236}">
                <a16:creationId xmlns:a16="http://schemas.microsoft.com/office/drawing/2014/main" id="{39FC0B5B-3D5D-03D3-6878-71063219FCB4}"/>
              </a:ext>
            </a:extLst>
          </p:cNvPr>
          <p:cNvSpPr txBox="1">
            <a:spLocks noChangeArrowheads="1"/>
          </p:cNvSpPr>
          <p:nvPr/>
        </p:nvSpPr>
        <p:spPr>
          <a:xfrm>
            <a:off x="623887" y="765174"/>
            <a:ext cx="10944223" cy="5400676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342900" lvl="1" indent="-342900" algn="just">
              <a:lnSpc>
                <a:spcPct val="110000"/>
              </a:lnSpc>
              <a:buClr>
                <a:schemeClr val="accent1"/>
              </a:buClr>
              <a:buFont typeface="Wingdings" panose="05000000000000000000" pitchFamily="2" charset="2"/>
              <a:buChar char="Ø"/>
            </a:pPr>
            <a:r>
              <a:rPr lang="pt-BR" altLang="pt-BR" sz="2000" b="1" dirty="0">
                <a:solidFill>
                  <a:schemeClr val="accent1"/>
                </a:solidFill>
                <a:latin typeface="Verdana" panose="020B0604030504040204" pitchFamily="34" charset="0"/>
                <a:ea typeface="Verdana" panose="020B0604030504040204" pitchFamily="34" charset="0"/>
                <a:cs typeface="Arial" charset="0"/>
              </a:rPr>
              <a:t>Análise Preliminar de Risco (APR)</a:t>
            </a:r>
          </a:p>
          <a:p>
            <a:pPr marL="0" lvl="1" algn="just">
              <a:lnSpc>
                <a:spcPct val="110000"/>
              </a:lnSpc>
            </a:pPr>
            <a:endParaRPr lang="pt-BR" altLang="pt-BR" sz="2000" dirty="0">
              <a:latin typeface="Verdana" panose="020B0604030504040204" pitchFamily="34" charset="0"/>
              <a:ea typeface="Verdana" panose="020B0604030504040204" pitchFamily="34" charset="0"/>
              <a:cs typeface="Arial" charset="0"/>
            </a:endParaRPr>
          </a:p>
          <a:p>
            <a:pPr marL="0" lvl="1" algn="just">
              <a:lnSpc>
                <a:spcPct val="110000"/>
              </a:lnSpc>
            </a:pPr>
            <a:endParaRPr lang="pt-BR" altLang="pt-BR" sz="2000" dirty="0">
              <a:latin typeface="Verdana" panose="020B0604030504040204" pitchFamily="34" charset="0"/>
              <a:ea typeface="Verdana" panose="020B0604030504040204" pitchFamily="34" charset="0"/>
              <a:cs typeface="Arial" charset="0"/>
            </a:endParaRPr>
          </a:p>
          <a:p>
            <a:pPr marL="0" lvl="1" algn="just">
              <a:lnSpc>
                <a:spcPct val="110000"/>
              </a:lnSpc>
            </a:pPr>
            <a:endParaRPr lang="pt-BR" altLang="pt-BR" sz="2000" dirty="0">
              <a:latin typeface="Verdana" panose="020B0604030504040204" pitchFamily="34" charset="0"/>
              <a:ea typeface="Verdana" panose="020B0604030504040204" pitchFamily="34" charset="0"/>
              <a:cs typeface="Arial" charset="0"/>
            </a:endParaRPr>
          </a:p>
          <a:p>
            <a:pPr marL="0" lvl="1" algn="just">
              <a:lnSpc>
                <a:spcPct val="110000"/>
              </a:lnSpc>
            </a:pPr>
            <a:endParaRPr lang="pt-BR" altLang="pt-BR" sz="2000" dirty="0">
              <a:latin typeface="Verdana" panose="020B0604030504040204" pitchFamily="34" charset="0"/>
              <a:ea typeface="Verdana" panose="020B0604030504040204" pitchFamily="34" charset="0"/>
              <a:cs typeface="Arial" charset="0"/>
            </a:endParaRPr>
          </a:p>
          <a:p>
            <a:pPr marL="0" lvl="1" algn="just">
              <a:lnSpc>
                <a:spcPct val="110000"/>
              </a:lnSpc>
            </a:pPr>
            <a:endParaRPr lang="pt-BR" altLang="pt-BR" sz="2000" dirty="0">
              <a:latin typeface="Verdana" panose="020B0604030504040204" pitchFamily="34" charset="0"/>
              <a:ea typeface="Verdana" panose="020B0604030504040204" pitchFamily="34" charset="0"/>
              <a:cs typeface="Arial" charset="0"/>
            </a:endParaRPr>
          </a:p>
          <a:p>
            <a:pPr marL="0" lvl="1" algn="just">
              <a:lnSpc>
                <a:spcPct val="110000"/>
              </a:lnSpc>
            </a:pPr>
            <a:endParaRPr lang="pt-BR" altLang="pt-BR" sz="2000" dirty="0">
              <a:latin typeface="Verdana" panose="020B0604030504040204" pitchFamily="34" charset="0"/>
              <a:ea typeface="Verdana" panose="020B0604030504040204" pitchFamily="34" charset="0"/>
              <a:cs typeface="Arial" charset="0"/>
            </a:endParaRPr>
          </a:p>
          <a:p>
            <a:pPr marL="0" lvl="1" algn="just">
              <a:lnSpc>
                <a:spcPct val="110000"/>
              </a:lnSpc>
            </a:pPr>
            <a:r>
              <a:rPr lang="pt-BR" sz="2000" dirty="0">
                <a:latin typeface="Verdana" panose="020B0604030504040204" pitchFamily="34" charset="0"/>
                <a:ea typeface="Verdana" panose="020B0604030504040204" pitchFamily="34" charset="0"/>
              </a:rPr>
              <a:t>É uma metodologia simplificada e preventiva, aplicada antes do início de tarefas específicas. </a:t>
            </a:r>
          </a:p>
          <a:p>
            <a:pPr marL="0" lvl="1" algn="just">
              <a:lnSpc>
                <a:spcPct val="110000"/>
              </a:lnSpc>
            </a:pPr>
            <a:endParaRPr lang="pt-BR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lvl="1" algn="just">
              <a:lnSpc>
                <a:spcPct val="110000"/>
              </a:lnSpc>
            </a:pPr>
            <a:r>
              <a:rPr lang="pt-BR" sz="2000" dirty="0">
                <a:latin typeface="Verdana" panose="020B0604030504040204" pitchFamily="34" charset="0"/>
                <a:ea typeface="Verdana" panose="020B0604030504040204" pitchFamily="34" charset="0"/>
              </a:rPr>
              <a:t>Seu objetivo é identificar rapidamente os riscos envolvidos na atividade e estabelecer medidas de controle imediatas, sendo muito utilizada em atividades operacionais do dia a dia. </a:t>
            </a:r>
          </a:p>
          <a:p>
            <a:pPr marL="0" lvl="1" algn="just">
              <a:lnSpc>
                <a:spcPct val="110000"/>
              </a:lnSpc>
            </a:pPr>
            <a:endParaRPr lang="pt-BR" sz="2000" dirty="0">
              <a:latin typeface="Verdana" panose="020B0604030504040204" pitchFamily="34" charset="0"/>
              <a:ea typeface="Verdana" panose="020B0604030504040204" pitchFamily="34" charset="0"/>
            </a:endParaRPr>
          </a:p>
          <a:p>
            <a:pPr marL="0" lvl="1" algn="just">
              <a:lnSpc>
                <a:spcPct val="110000"/>
              </a:lnSpc>
            </a:pPr>
            <a:r>
              <a:rPr lang="pt-BR" sz="2000" dirty="0">
                <a:latin typeface="Verdana" panose="020B0604030504040204" pitchFamily="34" charset="0"/>
                <a:ea typeface="Verdana" panose="020B0604030504040204" pitchFamily="34" charset="0"/>
              </a:rPr>
              <a:t>A APR geralmente é estruturada em forma de tabela, contemplando etapas da tarefa, perigos, riscos e medidas preventivas.</a:t>
            </a:r>
          </a:p>
        </p:txBody>
      </p:sp>
      <p:pic>
        <p:nvPicPr>
          <p:cNvPr id="2" name="Picture 2" descr="O que é APR e como fazer uma Análise Preliminar de Riscos?">
            <a:extLst>
              <a:ext uri="{FF2B5EF4-FFF2-40B4-BE49-F238E27FC236}">
                <a16:creationId xmlns:a16="http://schemas.microsoft.com/office/drawing/2014/main" id="{84B78BAF-DABA-62F6-961E-BBA564F1B3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9849" y="1418858"/>
            <a:ext cx="4772297" cy="15014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76171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951</TotalTime>
  <Words>995</Words>
  <Application>Microsoft Office PowerPoint</Application>
  <PresentationFormat>Widescreen</PresentationFormat>
  <Paragraphs>105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Inter ExtraLight</vt:lpstr>
      <vt:lpstr>Verdana</vt:lpstr>
      <vt:lpstr>Wingdings</vt:lpstr>
      <vt:lpstr>Office Theme</vt:lpstr>
      <vt:lpstr> 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</dc:title>
  <dc:creator>Administrativo - Aprovasim</dc:creator>
  <cp:lastModifiedBy>diagramador@aprovasim.com</cp:lastModifiedBy>
  <cp:revision>142</cp:revision>
  <dcterms:created xsi:type="dcterms:W3CDTF">2022-10-04T12:44:15Z</dcterms:created>
  <dcterms:modified xsi:type="dcterms:W3CDTF">2026-04-17T12:17:26Z</dcterms:modified>
</cp:coreProperties>
</file>
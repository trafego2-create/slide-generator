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5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5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308" r:id="rId58"/>
  </p:sldIdLst>
  <p:sldSz cy="6858000" cx="12192000"/>
  <p:notesSz cx="6858000" cy="9144000"/>
  <p:embeddedFontLst>
    <p:embeddedFont>
      <p:font typeface="Tahoma"/>
      <p:regular r:id="rId73"/>
      <p:bold r:id="rId7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75" roundtripDataSignature="AMtx7miQYxf9vra0OOkVcstaPZghHTMCF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29A2211-BEFF-4E7B-8D46-FB59E34F6AC5}">
  <a:tblStyle styleId="{829A2211-BEFF-4E7B-8D46-FB59E34F6AC5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6E6"/>
          </a:solidFill>
        </a:fill>
      </a:tcStyle>
    </a:wholeTbl>
    <a:band1H>
      <a:tcTxStyle b="off" i="off"/>
      <a:tcStyle>
        <a:fill>
          <a:solidFill>
            <a:srgbClr val="CACAC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ACACA"/>
          </a:solidFill>
        </a:fill>
      </a:tcStyle>
    </a:band1V>
    <a:band2V>
      <a:tcTxStyle b="off" i="off"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dk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dk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dk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dk1"/>
          </a:solidFill>
        </a:fill>
      </a:tcStyle>
    </a:firstRow>
    <a:neCell>
      <a:tcTxStyle b="off" i="off"/>
    </a:neCell>
    <a:nwCell>
      <a:tcTxStyle b="off" i="off"/>
    </a:nwCell>
  </a:tblStyle>
  <a:tblStyle styleId="{37E9B394-5D67-4837-99FA-BF561658789F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fill>
          <a:solidFill>
            <a:srgbClr val="CDD4E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DD4EA"/>
          </a:solidFill>
        </a:fill>
      </a:tcStyle>
    </a:band1V>
    <a:band2V>
      <a:tcTxStyle b="off" i="off"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58" Type="http://schemas.openxmlformats.org/officeDocument/2006/relationships/slide" Target="slides/slide53.xml"/><Relationship Id="rId73" Type="http://schemas.openxmlformats.org/officeDocument/2006/relationships/font" Target="fonts/Tahoma-regular.fntdata"/><Relationship Id="rId74" Type="http://schemas.openxmlformats.org/officeDocument/2006/relationships/font" Target="fonts/Tahoma-bold.fntdata"/><Relationship Id="rId75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6" name="Google Shape;86;p7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8" name="Google Shape;458;p4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6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6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6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6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6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6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6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6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6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6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6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6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6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6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6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6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7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7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7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7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7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7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7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7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7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7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7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7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7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7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7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7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7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7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7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7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7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6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6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6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6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74"/>
          <p:cNvSpPr txBox="1"/>
          <p:nvPr/>
        </p:nvSpPr>
        <p:spPr>
          <a:xfrm>
            <a:off x="2959036" y="2459504"/>
            <a:ext cx="6273927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pt-BR" sz="4400" u="none" cap="none" strike="noStrike">
                <a:solidFill>
                  <a:srgbClr val="FF3300"/>
                </a:solidFill>
                <a:latin typeface="Verdana"/>
                <a:ea typeface="Verdana"/>
                <a:cs typeface="Verdana"/>
                <a:sym typeface="Verdana"/>
              </a:rPr>
              <a:t>WINDOWS 10 ou SUPERIOR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49"/>
          <p:cNvSpPr txBox="1"/>
          <p:nvPr/>
        </p:nvSpPr>
        <p:spPr>
          <a:xfrm>
            <a:off x="523874" y="830628"/>
            <a:ext cx="11144249" cy="4308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pt-BR" sz="2200" u="sng" cap="none" strike="noStrike">
                <a:solidFill>
                  <a:srgbClr val="2E75B5"/>
                </a:solidFill>
                <a:latin typeface="Verdana"/>
                <a:ea typeface="Verdana"/>
                <a:cs typeface="Verdana"/>
                <a:sym typeface="Verdana"/>
              </a:rPr>
              <a:t>Operações de Arrastar com CTRL, SHIFT e ALT (</a:t>
            </a:r>
            <a:r>
              <a:rPr b="1" i="1" lang="pt-BR" sz="2200" u="sng" cap="none" strike="noStrike">
                <a:solidFill>
                  <a:srgbClr val="2E75B5"/>
                </a:solidFill>
                <a:latin typeface="Verdana"/>
                <a:ea typeface="Verdana"/>
                <a:cs typeface="Verdana"/>
                <a:sym typeface="Verdana"/>
              </a:rPr>
              <a:t>Drag And Drop</a:t>
            </a:r>
            <a:r>
              <a:rPr b="1" i="0" lang="pt-BR" sz="2200" u="sng" cap="none" strike="noStrike">
                <a:solidFill>
                  <a:srgbClr val="2E75B5"/>
                </a:solidFill>
                <a:latin typeface="Verdana"/>
                <a:ea typeface="Verdana"/>
                <a:cs typeface="Verdana"/>
                <a:sym typeface="Verdana"/>
              </a:rPr>
              <a:t>)</a:t>
            </a:r>
            <a:endParaRPr b="0" i="0" sz="2200" u="sng" cap="none" strike="noStrike">
              <a:solidFill>
                <a:srgbClr val="2E75B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49"/>
          <p:cNvSpPr txBox="1"/>
          <p:nvPr/>
        </p:nvSpPr>
        <p:spPr>
          <a:xfrm>
            <a:off x="657226" y="1724787"/>
            <a:ext cx="10820400" cy="3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No Windows, de forma geral, as operações de arrastar objetos com o mouse produzem resultados diferentes se as fizermos mantendo as teclas </a:t>
            </a:r>
            <a:r>
              <a:rPr b="1" i="0" lang="pt-BR" sz="20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CTRL</a:t>
            </a:r>
            <a:r>
              <a:rPr b="0" i="0" lang="pt-BR" sz="20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</a:t>
            </a:r>
            <a:r>
              <a:rPr b="1" i="0" lang="pt-BR" sz="20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SHIFT</a:t>
            </a:r>
            <a:r>
              <a:rPr b="0" i="0" lang="pt-BR" sz="20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ou </a:t>
            </a:r>
            <a:r>
              <a:rPr b="1" i="0" lang="pt-BR" sz="20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ALT</a:t>
            </a:r>
            <a:r>
              <a:rPr b="0" i="0" lang="pt-BR" sz="20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pressionadas.</a:t>
            </a:r>
            <a:endParaRPr b="0" i="0" sz="20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just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just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Arrastando um objeto com a tecla: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just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sng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</a:t>
            </a:r>
            <a:r>
              <a:rPr b="1" i="0" lang="pt-BR" sz="20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TRL</a:t>
            </a:r>
            <a:r>
              <a:rPr b="0" i="0" lang="pt-BR" sz="20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pressionada, o Windows cria uma </a:t>
            </a:r>
            <a:r>
              <a:rPr b="1" i="0" lang="pt-BR" sz="2000" u="sng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</a:t>
            </a:r>
            <a:r>
              <a:rPr b="1" i="0" lang="pt-BR" sz="20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ÓPIA</a:t>
            </a:r>
            <a:r>
              <a:rPr b="0" i="0" lang="pt-BR" sz="20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do objeto no local onde ele será solto. </a:t>
            </a:r>
            <a:endParaRPr b="0" i="0" sz="20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just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sng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</a:t>
            </a:r>
            <a:r>
              <a:rPr b="1" i="0" lang="pt-BR" sz="20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HIFT</a:t>
            </a:r>
            <a:r>
              <a:rPr b="0" i="0" lang="pt-BR" sz="20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pressionada, o Windows </a:t>
            </a:r>
            <a:r>
              <a:rPr b="1" i="0" lang="pt-BR" sz="2000" u="sng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</a:t>
            </a:r>
            <a:r>
              <a:rPr b="1" i="0" lang="pt-BR" sz="20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AI/MOVE </a:t>
            </a:r>
            <a:r>
              <a:rPr b="0" i="0" lang="pt-BR" sz="20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o objeto no local onde ele será solto.</a:t>
            </a:r>
            <a:endParaRPr b="0" i="0" sz="20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just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sng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</a:t>
            </a:r>
            <a:r>
              <a:rPr b="1" i="0" lang="pt-BR" sz="20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LT</a:t>
            </a:r>
            <a:r>
              <a:rPr b="0" i="0" lang="pt-BR" sz="20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pressionada, o Windows cria um </a:t>
            </a:r>
            <a:r>
              <a:rPr b="1" i="0" lang="pt-BR" sz="2000" u="sng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ALT</a:t>
            </a:r>
            <a:r>
              <a:rPr b="1" i="0" lang="pt-BR" sz="20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alho</a:t>
            </a:r>
            <a:r>
              <a:rPr b="0" i="0" lang="pt-BR" sz="20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para o objeto no local onde ele será solto.</a:t>
            </a:r>
            <a:endParaRPr b="0" i="0" sz="20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RABO">
  <a:themeElements>
    <a:clrScheme name="Tema do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2025-01-29T17:38:03Z</dcterms:created>
  <dc:creator>diagramador@aprovasim.com</dc:creator>
</cp:coreProperties>
</file>